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5" r:id="rId1"/>
  </p:sldMasterIdLst>
  <p:sldIdLst>
    <p:sldId id="259" r:id="rId2"/>
    <p:sldId id="260" r:id="rId3"/>
    <p:sldId id="261" r:id="rId4"/>
    <p:sldId id="262" r:id="rId5"/>
    <p:sldId id="263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DA147"/>
    <a:srgbClr val="B54C2D"/>
    <a:srgbClr val="B66952"/>
    <a:srgbClr val="B56D45"/>
    <a:srgbClr val="DF985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7" d="100"/>
          <a:sy n="117" d="100"/>
        </p:scale>
        <p:origin x="29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0693" y="1769540"/>
            <a:ext cx="9440034" cy="1828801"/>
          </a:xfr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0693" y="3773489"/>
            <a:ext cx="9440034" cy="1049867"/>
          </a:xfrm>
        </p:spPr>
        <p:txBody>
          <a:bodyPr anchor="t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D38747-4367-4BD2-8D51-C97E202738E2}" type="datetime1">
              <a:rPr lang="en-US" smtClean="0"/>
              <a:t>12/8/2025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525254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C55A3C-5767-4844-A0A3-83778C2E5409}" type="datetime1">
              <a:rPr lang="en-US" smtClean="0"/>
              <a:t>12/8/2025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58651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1761067"/>
            <a:ext cx="9590550" cy="1828813"/>
          </a:xfrm>
        </p:spPr>
        <p:txBody>
          <a:bodyPr anchor="b"/>
          <a:lstStyle>
            <a:lvl1pPr algn="ct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3763439"/>
            <a:ext cx="9590550" cy="1333494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E507A8-A5CF-4D38-AB86-7EDDA87A85D4}" type="datetime1">
              <a:rPr lang="en-US" smtClean="0"/>
              <a:t>12/8/2025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264868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26187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2076450"/>
            <a:ext cx="4856841" cy="3622671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0716" y="2076451"/>
            <a:ext cx="4856841" cy="3622672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FCD27C-8599-43EF-BA1D-14DDC1946E06}" type="datetime1">
              <a:rPr lang="en-US" smtClean="0"/>
              <a:t>12/8/2025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751756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 descr="Slate-V2-HD-compPhotoInset.png">
            <a:extLst>
              <a:ext uri="{FF2B5EF4-FFF2-40B4-BE49-F238E27FC236}">
                <a16:creationId xmlns:a16="http://schemas.microsoft.com/office/drawing/2014/main" id="{37B721FF-D609-4D98-9D19-CF75AA8A54F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795" y="1734506"/>
            <a:ext cx="5029200" cy="4099959"/>
          </a:xfrm>
          <a:prstGeom prst="rect">
            <a:avLst/>
          </a:prstGeom>
        </p:spPr>
      </p:pic>
      <p:pic>
        <p:nvPicPr>
          <p:cNvPr id="21" name="Picture 20" descr="Slate-V2-HD-compPhotoInset.png">
            <a:extLst>
              <a:ext uri="{FF2B5EF4-FFF2-40B4-BE49-F238E27FC236}">
                <a16:creationId xmlns:a16="http://schemas.microsoft.com/office/drawing/2014/main" id="{073936BD-C868-433F-8E84-D6DD8E640E3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8357" y="1734506"/>
            <a:ext cx="5029200" cy="409995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46013" y="1855153"/>
            <a:ext cx="4764764" cy="692494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46013" y="2702103"/>
            <a:ext cx="4764764" cy="304353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63166" y="1855152"/>
            <a:ext cx="4779582" cy="692495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63167" y="2702103"/>
            <a:ext cx="4779581" cy="304353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343D99-809A-49C0-96E5-4250D0B498EE}" type="datetime1">
              <a:rPr lang="en-US" smtClean="0"/>
              <a:t>12/8/2025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88870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43DE9B-B678-4EFB-BB7D-A4370204A0B0}" type="datetime1">
              <a:rPr lang="en-US" smtClean="0"/>
              <a:t>12/8/2025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48886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8812DA-F765-4142-A6A3-A8ED7235E082}" type="datetime1">
              <a:rPr lang="en-US" smtClean="0"/>
              <a:t>12/8/2025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59166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3706889" cy="1821918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3" y="609600"/>
            <a:ext cx="6411924" cy="508000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673351"/>
            <a:ext cx="3706889" cy="301625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0277FD-7DE6-41D4-930D-AC99F5AFE54E}" type="datetime1">
              <a:rPr lang="en-US" smtClean="0"/>
              <a:t>12/8/2025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964791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 descr="Slate-V2-HD-vertPhotoInset.png">
            <a:extLst>
              <a:ext uri="{FF2B5EF4-FFF2-40B4-BE49-F238E27FC236}">
                <a16:creationId xmlns:a16="http://schemas.microsoft.com/office/drawing/2014/main" id="{4D06E496-ACBA-4063-B4A1-C5C484EE5A7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3665" y="609600"/>
            <a:ext cx="3584166" cy="520483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763701"/>
            <a:ext cx="5707899" cy="1675559"/>
          </a:xfrm>
        </p:spPr>
        <p:txBody>
          <a:bodyPr anchor="b">
            <a:noAutofit/>
          </a:bodyPr>
          <a:lstStyle>
            <a:lvl1pPr algn="ctr">
              <a:defRPr sz="32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42551" y="763702"/>
            <a:ext cx="3275751" cy="4912822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73698" y="2679699"/>
            <a:ext cx="4588094" cy="3135695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A15526-7079-4B7B-987C-1B5FAE11A0FF}" type="datetime1">
              <a:rPr lang="en-US" smtClean="0"/>
              <a:t>12/8/2025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63787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Slate-V2-HD-panoPhotoInset.png">
            <a:extLst>
              <a:ext uri="{FF2B5EF4-FFF2-40B4-BE49-F238E27FC236}">
                <a16:creationId xmlns:a16="http://schemas.microsoft.com/office/drawing/2014/main" id="{CE39118B-B3AD-4BD4-BA22-DEFF4E76CE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883" y="547807"/>
            <a:ext cx="10141799" cy="381680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565255"/>
            <a:ext cx="10355326" cy="543472"/>
          </a:xfrm>
        </p:spPr>
        <p:txBody>
          <a:bodyPr anchor="b">
            <a:normAutofit/>
          </a:bodyPr>
          <a:lstStyle>
            <a:lvl1pPr algn="ctr"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69349" y="695009"/>
            <a:ext cx="9845346" cy="3525671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247728"/>
            <a:ext cx="10353762" cy="543472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F1B079-7EF0-44EE-B798-BCC497C9F3B2}" type="datetime1">
              <a:rPr lang="en-US" smtClean="0"/>
              <a:t>12/8/2025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46655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8437"/>
            <a:ext cx="10353762" cy="3534344"/>
          </a:xfrm>
        </p:spPr>
        <p:txBody>
          <a:bodyPr anchor="ctr"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95180"/>
            <a:ext cx="10353763" cy="150182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FF70A8-1D13-4657-95F0-A9EA54967B8D}" type="datetime1">
              <a:rPr lang="en-US" smtClean="0"/>
              <a:t>12/8/2025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120556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32749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304353"/>
            <a:ext cx="10353763" cy="148949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EB90AC-71BD-4C7F-8ACA-7B3F18292E63}" type="datetime1">
              <a:rPr lang="en-US" smtClean="0"/>
              <a:t>12/8/2025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23F0D53-0705-41B7-8554-09D21E7807F9}"/>
              </a:ext>
            </a:extLst>
          </p:cNvPr>
          <p:cNvSpPr txBox="1"/>
          <p:nvPr/>
        </p:nvSpPr>
        <p:spPr>
          <a:xfrm>
            <a:off x="990600" y="88479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7F647CD-0F1A-4BB3-89E0-A74F1E1B098D}"/>
              </a:ext>
            </a:extLst>
          </p:cNvPr>
          <p:cNvSpPr txBox="1"/>
          <p:nvPr/>
        </p:nvSpPr>
        <p:spPr>
          <a:xfrm>
            <a:off x="10504716" y="292825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48059434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2126942"/>
            <a:ext cx="10353763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84" y="4650556"/>
            <a:ext cx="10352199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6EFC2C-8905-46F0-B443-CE905B76BA01}" type="datetime1">
              <a:rPr lang="en-US" smtClean="0"/>
              <a:t>12/8/2025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883623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5" y="1885950"/>
            <a:ext cx="3300984" cy="764782"/>
          </a:xfrm>
        </p:spPr>
        <p:txBody>
          <a:bodyPr anchor="b">
            <a:noAutofit/>
          </a:bodyPr>
          <a:lstStyle>
            <a:lvl1pPr marL="0" indent="0" algn="ctr"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5" y="2768112"/>
            <a:ext cx="3300984" cy="302308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6711" y="1885949"/>
            <a:ext cx="3300984" cy="764783"/>
          </a:xfrm>
        </p:spPr>
        <p:txBody>
          <a:bodyPr anchor="b">
            <a:noAutofit/>
          </a:bodyPr>
          <a:lstStyle>
            <a:lvl1pPr marL="0" indent="0" algn="ctr"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435" y="2768112"/>
            <a:ext cx="3300984" cy="302308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572" y="1885950"/>
            <a:ext cx="3300984" cy="764782"/>
          </a:xfrm>
        </p:spPr>
        <p:txBody>
          <a:bodyPr anchor="b">
            <a:noAutofit/>
          </a:bodyPr>
          <a:lstStyle>
            <a:lvl1pPr marL="0" indent="0" algn="ctr"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66572" y="2768110"/>
            <a:ext cx="3300984" cy="302308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079DC3-C9B5-499E-9140-0DC28B7074E2}" type="datetime1">
              <a:rPr lang="en-US" smtClean="0"/>
              <a:t>12/8/2025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8740690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ate-V2-HD-3colPhotoInset.png">
            <a:extLst>
              <a:ext uri="{FF2B5EF4-FFF2-40B4-BE49-F238E27FC236}">
                <a16:creationId xmlns:a16="http://schemas.microsoft.com/office/drawing/2014/main" id="{7E87C569-D426-4615-ADA7-B370EA98340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7962" y="1818214"/>
            <a:ext cx="3339972" cy="1847851"/>
          </a:xfrm>
          <a:prstGeom prst="rect">
            <a:avLst/>
          </a:prstGeom>
        </p:spPr>
      </p:pic>
      <p:pic>
        <p:nvPicPr>
          <p:cNvPr id="36" name="Picture 35" descr="Slate-V2-HD-3colPhotoInset.png">
            <a:extLst>
              <a:ext uri="{FF2B5EF4-FFF2-40B4-BE49-F238E27FC236}">
                <a16:creationId xmlns:a16="http://schemas.microsoft.com/office/drawing/2014/main" id="{7B353ED4-7AD0-46C9-88ED-1A16B1433AF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3800" y="1818214"/>
            <a:ext cx="3339972" cy="1847851"/>
          </a:xfrm>
          <a:prstGeom prst="rect">
            <a:avLst/>
          </a:prstGeom>
        </p:spPr>
      </p:pic>
      <p:pic>
        <p:nvPicPr>
          <p:cNvPr id="37" name="Picture 36" descr="Slate-V2-HD-3colPhotoInset.png">
            <a:extLst>
              <a:ext uri="{FF2B5EF4-FFF2-40B4-BE49-F238E27FC236}">
                <a16:creationId xmlns:a16="http://schemas.microsoft.com/office/drawing/2014/main" id="{F561D985-AD57-459A-B3A6-EBF29603976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6051" y="1818214"/>
            <a:ext cx="3339972" cy="1847851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3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18102" y="1938918"/>
            <a:ext cx="3092368" cy="160295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572443"/>
            <a:ext cx="3300984" cy="121875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88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45743" y="1939094"/>
            <a:ext cx="3092368" cy="160816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435" y="4572442"/>
            <a:ext cx="3300984" cy="121875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697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75698" y="1934432"/>
            <a:ext cx="3092368" cy="160729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66572" y="4572442"/>
            <a:ext cx="3300984" cy="121875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BB33EA-E472-4D22-9C03-A9C14AA21CED}" type="datetime1">
              <a:rPr lang="en-US" smtClean="0"/>
              <a:t>12/8/2025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6230268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7E833E-1B6D-415F-AD29-75AE8C43BD0D}" type="datetime1">
              <a:rPr lang="en-US" smtClean="0"/>
              <a:t>12/8/2025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9415868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83068" y="609599"/>
            <a:ext cx="228448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6" y="609599"/>
            <a:ext cx="7916872" cy="5181601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52596F-08A7-4B70-989A-F2B1CF31E66B}" type="datetime1">
              <a:rPr lang="en-US" smtClean="0"/>
              <a:t>12/8/2025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345277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25730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2076450"/>
            <a:ext cx="10353762" cy="3714749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600074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073ED0CC-082F-4160-86E5-0D6041F12778}" type="datetime1">
              <a:rPr lang="en-US" smtClean="0"/>
              <a:t>12/8/2025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5" y="6000749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6000749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980277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13" r:id="rId1"/>
    <p:sldLayoutId id="2147483715" r:id="rId2"/>
    <p:sldLayoutId id="2147483716" r:id="rId3"/>
    <p:sldLayoutId id="2147483714" r:id="rId4"/>
    <p:sldLayoutId id="2147483710" r:id="rId5"/>
    <p:sldLayoutId id="2147483694" r:id="rId6"/>
    <p:sldLayoutId id="2147483695" r:id="rId7"/>
    <p:sldLayoutId id="2147483696" r:id="rId8"/>
    <p:sldLayoutId id="2147483697" r:id="rId9"/>
    <p:sldLayoutId id="2147483699" r:id="rId10"/>
    <p:sldLayoutId id="2147483693" r:id="rId11"/>
    <p:sldLayoutId id="2147483700" r:id="rId12"/>
    <p:sldLayoutId id="2147483701" r:id="rId13"/>
    <p:sldLayoutId id="2147483703" r:id="rId14"/>
    <p:sldLayoutId id="2147483704" r:id="rId15"/>
    <p:sldLayoutId id="2147483702" r:id="rId16"/>
    <p:sldLayoutId id="2147483698" r:id="rId17"/>
  </p:sldLayoutIdLst>
  <p:hf sldNum="0" hdr="0" ftr="0" dt="0"/>
  <p:txStyles>
    <p:titleStyle>
      <a:lvl1pPr algn="ctr" defTabSz="457200" rtl="0" eaLnBrk="1" latinLnBrk="0" hangingPunct="1">
        <a:lnSpc>
          <a:spcPct val="90000"/>
        </a:lnSpc>
        <a:spcBef>
          <a:spcPct val="0"/>
        </a:spcBef>
        <a:buNone/>
        <a:defRPr sz="4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j-lt"/>
          <a:ea typeface="+mj-ea"/>
          <a:cs typeface="Trebuchet M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06000" algn="l" defTabSz="457200" rtl="0" eaLnBrk="1" latinLnBrk="0" hangingPunct="1">
        <a:lnSpc>
          <a:spcPct val="110000"/>
        </a:lnSpc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23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1pPr>
      <a:lvl2pPr marL="72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21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2pPr>
      <a:lvl3pPr marL="102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8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3pPr>
      <a:lvl4pPr marL="138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4pPr>
      <a:lvl5pPr marL="1674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5pPr>
      <a:lvl6pPr marL="20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6pPr>
      <a:lvl7pPr marL="240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7pPr>
      <a:lvl8pPr marL="278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8pPr>
      <a:lvl9pPr marL="310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1">
                <a:shade val="80000"/>
                <a:lumMod val="80000"/>
              </a:schemeClr>
              <a:schemeClr val="bg1">
                <a:tint val="98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picture containing cup, coffee, food, beverage&#10;&#10;Description automatically generated">
            <a:extLst>
              <a:ext uri="{FF2B5EF4-FFF2-40B4-BE49-F238E27FC236}">
                <a16:creationId xmlns:a16="http://schemas.microsoft.com/office/drawing/2014/main" id="{91BC5572-FC33-4C1C-8DEE-C2CF75A75641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D1F047C-C727-42A7-85C5-68C5AA1B1A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70693" y="1087120"/>
            <a:ext cx="9440034" cy="2648381"/>
          </a:xfrm>
        </p:spPr>
        <p:txBody>
          <a:bodyPr>
            <a:normAutofit/>
          </a:bodyPr>
          <a:lstStyle/>
          <a:p>
            <a:r>
              <a:rPr lang="en-ZA" sz="7200" dirty="0"/>
              <a:t>Conference Room Booking API</a:t>
            </a:r>
            <a:endParaRPr lang="en-US" sz="72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B93FB3F-A8D4-46D3-A1C6-C79C6456372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70693" y="3910649"/>
            <a:ext cx="9440034" cy="1397951"/>
          </a:xfrm>
        </p:spPr>
        <p:txBody>
          <a:bodyPr>
            <a:normAutofit/>
          </a:bodyPr>
          <a:lstStyle/>
          <a:p>
            <a:r>
              <a:rPr lang="en-ZA" sz="2800" dirty="0"/>
              <a:t>Technical Assessment – Omar Bagdadi</a:t>
            </a:r>
          </a:p>
          <a:p>
            <a:r>
              <a:rPr lang="en-ZA" sz="2800" dirty="0"/>
              <a:t>Tech stack: Node.js + Express + PostgreSQL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6337383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C46487-4602-E85F-854B-BC2AFC1A299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05379" y="283641"/>
            <a:ext cx="9440034" cy="908346"/>
          </a:xfrm>
        </p:spPr>
        <p:txBody>
          <a:bodyPr/>
          <a:lstStyle/>
          <a:p>
            <a:r>
              <a:rPr lang="en-ZA" dirty="0"/>
              <a:t>Schema Overview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7118DC34-743E-DE5E-41FF-F2AA2911584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432957" y="1265465"/>
            <a:ext cx="7200899" cy="53088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0364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F9C450-F037-2734-F1E9-3D070E5621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1" y="427573"/>
            <a:ext cx="9590550" cy="704547"/>
          </a:xfrm>
        </p:spPr>
        <p:txBody>
          <a:bodyPr/>
          <a:lstStyle/>
          <a:p>
            <a:r>
              <a:rPr lang="en-ZA" dirty="0"/>
              <a:t>Core Routes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A3A867C-DCB3-DCAA-3E7F-328E857647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95401" y="1445078"/>
            <a:ext cx="9590550" cy="5070021"/>
          </a:xfrm>
        </p:spPr>
        <p:txBody>
          <a:bodyPr/>
          <a:lstStyle/>
          <a:p>
            <a:pPr algn="l"/>
            <a:endParaRPr lang="en-ZA" dirty="0"/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ZA" sz="2400" dirty="0"/>
              <a:t>GET /rooms → List rooms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ZA" sz="2400" dirty="0"/>
              <a:t>GET /rooms/filter → Filter rooms by </a:t>
            </a:r>
            <a:r>
              <a:rPr lang="en-US" sz="2400" dirty="0"/>
              <a:t>capacity and/or amenities</a:t>
            </a:r>
            <a:endParaRPr lang="en-ZA" sz="2400" dirty="0"/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ZA" sz="2400" dirty="0"/>
              <a:t>GET /rooms/:id/</a:t>
            </a:r>
            <a:r>
              <a:rPr lang="en-ZA" sz="2400" dirty="0" err="1"/>
              <a:t>availability?date</a:t>
            </a:r>
            <a:r>
              <a:rPr lang="en-ZA" sz="2400" dirty="0"/>
              <a:t>=YYYY-MM-DD → Check availability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ZA" sz="2400" dirty="0"/>
              <a:t>POST /bookings → Create booking (validates conflicts, duration, hours)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ZA" sz="2400" dirty="0"/>
              <a:t>GET /bookings/:id → Booking details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ZA" sz="2400" dirty="0"/>
              <a:t>PATCH /bookings/:id → Reschedule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ZA" sz="2400" dirty="0"/>
              <a:t>DELETE /bookings/:id → Cancel booking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ZA" sz="2400" dirty="0"/>
              <a:t>GET /users/:id/bookings → User’s bookings</a:t>
            </a:r>
          </a:p>
        </p:txBody>
      </p:sp>
    </p:spTree>
    <p:extLst>
      <p:ext uri="{BB962C8B-B14F-4D97-AF65-F5344CB8AC3E}">
        <p14:creationId xmlns:p14="http://schemas.microsoft.com/office/powerpoint/2010/main" val="18135411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CD69F8-B011-B298-94EE-D31E1DFFED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00725" y="307824"/>
            <a:ext cx="9590550" cy="753533"/>
          </a:xfrm>
        </p:spPr>
        <p:txBody>
          <a:bodyPr/>
          <a:lstStyle/>
          <a:p>
            <a:r>
              <a:rPr lang="en-ZA" dirty="0"/>
              <a:t>Business Logic &amp; Error Handling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2307C21-40A9-E938-ADB3-9C3D6309A1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95401" y="1314450"/>
            <a:ext cx="9590550" cy="5235726"/>
          </a:xfrm>
        </p:spPr>
        <p:txBody>
          <a:bodyPr/>
          <a:lstStyle/>
          <a:p>
            <a:pPr marL="342900" indent="-342900" algn="l">
              <a:buFont typeface="Arial" panose="020B0604020202020204" pitchFamily="34" charset="0"/>
              <a:buChar char="•"/>
            </a:pPr>
            <a:endParaRPr lang="en-US" sz="2800" dirty="0"/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800" dirty="0"/>
              <a:t>Prevent double‑booking (conflict check + transaction)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800" dirty="0"/>
              <a:t>Enforce duration (30 min minimum, 4 </a:t>
            </a:r>
            <a:r>
              <a:rPr lang="en-US" sz="2800" dirty="0" err="1"/>
              <a:t>hr</a:t>
            </a:r>
            <a:r>
              <a:rPr lang="en-US" sz="2800" dirty="0"/>
              <a:t> maximum)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800" dirty="0"/>
              <a:t>Business hours only (9am – 5pm)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800" dirty="0"/>
              <a:t>Waiting list promotion handled atomically.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800" dirty="0"/>
              <a:t>Error responses in JSON format with meaningful messages (400, 409, 404)</a:t>
            </a:r>
          </a:p>
          <a:p>
            <a:pPr algn="l"/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37539525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2C66DF-77B7-093C-52E2-D0F7738F30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00725" y="427574"/>
            <a:ext cx="9590550" cy="778026"/>
          </a:xfrm>
        </p:spPr>
        <p:txBody>
          <a:bodyPr/>
          <a:lstStyle/>
          <a:p>
            <a:r>
              <a:rPr lang="en-ZA" dirty="0"/>
              <a:t>Scaling &amp; Improvements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47F2D07-9856-ED1A-6804-0A774ED1EF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95401" y="1510392"/>
            <a:ext cx="9590550" cy="4920033"/>
          </a:xfrm>
        </p:spPr>
        <p:txBody>
          <a:bodyPr>
            <a:normAutofit lnSpcReduction="10000"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ZA" b="1" dirty="0"/>
              <a:t>Scalability</a:t>
            </a:r>
            <a:r>
              <a:rPr lang="en-ZA" dirty="0"/>
              <a:t>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ZA" dirty="0"/>
              <a:t>Caching queries (Redis).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ZA" dirty="0"/>
              <a:t>Load balancing across containers.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>
                <a:effectLst/>
              </a:rPr>
              <a:t>Auto‑scaling to add/remove containers.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>
                <a:effectLst/>
              </a:rPr>
              <a:t>API </a:t>
            </a:r>
            <a:r>
              <a:rPr lang="en-ZA" dirty="0">
                <a:effectLst/>
              </a:rPr>
              <a:t>pagination.</a:t>
            </a:r>
            <a:endParaRPr lang="en-ZA" dirty="0"/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ZA" b="1" dirty="0"/>
              <a:t>Deployment</a:t>
            </a:r>
            <a:r>
              <a:rPr lang="en-ZA" dirty="0"/>
              <a:t>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ZA" dirty="0"/>
              <a:t>Docker Compose for dev.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ZA" dirty="0"/>
              <a:t>Docker swarm for scaling in production.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ZA" b="1" dirty="0"/>
              <a:t>With more time</a:t>
            </a:r>
            <a:r>
              <a:rPr lang="en-ZA" dirty="0"/>
              <a:t>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ZA" dirty="0"/>
              <a:t>Add authorization &amp; authentication.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ZA" dirty="0"/>
              <a:t>Endpoint testing with Jest &amp; </a:t>
            </a:r>
            <a:r>
              <a:rPr lang="en-ZA" dirty="0" err="1"/>
              <a:t>Supertest</a:t>
            </a:r>
            <a:r>
              <a:rPr lang="en-ZA" dirty="0"/>
              <a:t>.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ZA" dirty="0"/>
              <a:t>Email notifications.</a:t>
            </a:r>
          </a:p>
        </p:txBody>
      </p:sp>
    </p:spTree>
    <p:extLst>
      <p:ext uri="{BB962C8B-B14F-4D97-AF65-F5344CB8AC3E}">
        <p14:creationId xmlns:p14="http://schemas.microsoft.com/office/powerpoint/2010/main" val="316642918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lateVTI">
  <a:themeElements>
    <a:clrScheme name="Coffee">
      <a:dk1>
        <a:sysClr val="windowText" lastClr="000000"/>
      </a:dk1>
      <a:lt1>
        <a:sysClr val="window" lastClr="FFFFFF"/>
      </a:lt1>
      <a:dk2>
        <a:srgbClr val="4E3B30"/>
      </a:dk2>
      <a:lt2>
        <a:srgbClr val="F4EEDC"/>
      </a:lt2>
      <a:accent1>
        <a:srgbClr val="CC830E"/>
      </a:accent1>
      <a:accent2>
        <a:srgbClr val="B54C2D"/>
      </a:accent2>
      <a:accent3>
        <a:srgbClr val="99570C"/>
      </a:accent3>
      <a:accent4>
        <a:srgbClr val="C17529"/>
      </a:accent4>
      <a:accent5>
        <a:srgbClr val="A19574"/>
      </a:accent5>
      <a:accent6>
        <a:srgbClr val="A49518"/>
      </a:accent6>
      <a:hlink>
        <a:srgbClr val="AD1F1F"/>
      </a:hlink>
      <a:folHlink>
        <a:srgbClr val="FFC42F"/>
      </a:folHlink>
    </a:clrScheme>
    <a:fontScheme name="Custom 4">
      <a:majorFont>
        <a:latin typeface="Goudy Old Style"/>
        <a:ea typeface=""/>
        <a:cs typeface=""/>
      </a:majorFont>
      <a:minorFont>
        <a:latin typeface="Goudy Old Style"/>
        <a:ea typeface=""/>
        <a:cs typeface=""/>
      </a:minorFont>
    </a:fontScheme>
    <a:fmtScheme name="Slate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0000"/>
                <a:lumMod val="90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dist="25400" dir="5400000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shade val="80000"/>
                <a:lumMod val="80000"/>
              </a:schemeClr>
              <a:schemeClr val="phClr">
                <a:tint val="98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HREE.pptx" id="{E781C72B-3D65-4B8D-9071-33B66AF0EF30}" vid="{3A5A58F2-9BE1-435C-B12D-88FD9BF70179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{7CFC469E-A6CD-4E79-943E-E40B647BBD7B}tf12214701_win32</Template>
  <TotalTime>51</TotalTime>
  <Words>216</Words>
  <Application>Microsoft Office PowerPoint</Application>
  <PresentationFormat>Widescreen</PresentationFormat>
  <Paragraphs>34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Goudy Old Style</vt:lpstr>
      <vt:lpstr>Wingdings 2</vt:lpstr>
      <vt:lpstr>SlateVTI</vt:lpstr>
      <vt:lpstr>Conference Room Booking API</vt:lpstr>
      <vt:lpstr>Schema Overview</vt:lpstr>
      <vt:lpstr>Core Routes</vt:lpstr>
      <vt:lpstr>Business Logic &amp; Error Handling</vt:lpstr>
      <vt:lpstr>Scaling &amp; Improvements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omar bagdadi</dc:creator>
  <cp:lastModifiedBy>omar bagdadi</cp:lastModifiedBy>
  <cp:revision>4</cp:revision>
  <dcterms:created xsi:type="dcterms:W3CDTF">2025-12-08T06:05:43Z</dcterms:created>
  <dcterms:modified xsi:type="dcterms:W3CDTF">2025-12-08T06:56:53Z</dcterms:modified>
</cp:coreProperties>
</file>